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ver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594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NJTECH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南 京 工 业 大 学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</a:rPr>
              <a:t>NANJING TECH UNIVERSITY</a:t>
            </a:r>
            <a:endParaRPr sz="10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42519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GRADUATION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4807585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DEFENSE  ·  毕业答辩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59436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计算机与信息工程学院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62636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FFFFFF"/>
                </a:solidFill>
                <a:latin typeface="微软雅黑" panose="020B0503020204020204" charset="-122"/>
              </a:rPr>
              <a:t>School of Computer &amp; Information Engineering</a:t>
            </a:r>
            <a:endParaRPr sz="9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60520" y="5943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毕 业 设 计（论 文）答 辩 ·  2026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60520" y="1234440"/>
            <a:ext cx="77724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>
                <a:solidFill>
                  <a:srgbClr val="142955"/>
                </a:solidFill>
                <a:latin typeface="微软雅黑" panose="020B0503020204020204" charset="-122"/>
              </a:rPr>
              <a:t>基于神经辐射场与运动感知的</a:t>
            </a:r>
            <a:endParaRPr sz="3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60520" y="2103120"/>
            <a:ext cx="77724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>
                <a:solidFill>
                  <a:srgbClr val="142955"/>
                </a:solidFill>
                <a:latin typeface="微软雅黑" panose="020B0503020204020204" charset="-122"/>
              </a:rPr>
              <a:t>图像去模糊技术研究</a:t>
            </a:r>
            <a:endParaRPr sz="4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60520" y="310896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4A4A4A"/>
                </a:solidFill>
                <a:latin typeface="微软雅黑" panose="020B0503020204020204" charset="-122"/>
              </a:rPr>
              <a:t>Research on Image Deblurring based on</a:t>
            </a:r>
            <a:endParaRPr sz="1500" b="1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60520" y="338328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4A4A4A"/>
                </a:solidFill>
                <a:latin typeface="微软雅黑" panose="020B0503020204020204" charset="-122"/>
              </a:rPr>
              <a:t>Neural Radiance Fields &amp; Motion Awareness</a:t>
            </a:r>
            <a:endParaRPr sz="1500" b="1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160520" y="4069080"/>
            <a:ext cx="1737360" cy="438912"/>
          </a:xfrm>
          <a:prstGeom prst="roundRect">
            <a:avLst>
              <a:gd name="adj" fmla="val 45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4069080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NeRF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035040" y="4069080"/>
            <a:ext cx="1737360" cy="438912"/>
          </a:xfrm>
          <a:prstGeom prst="roundRect">
            <a:avLst>
              <a:gd name="adj" fmla="val 45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069080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DSKnet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09559" y="4069080"/>
            <a:ext cx="1737360" cy="438912"/>
          </a:xfrm>
          <a:prstGeom prst="roundRect">
            <a:avLst>
              <a:gd name="adj" fmla="val 45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59" y="4069080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Volume Rendering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784078" y="4069080"/>
            <a:ext cx="1737360" cy="438912"/>
          </a:xfrm>
          <a:prstGeom prst="roundRect">
            <a:avLst>
              <a:gd name="adj" fmla="val 45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8" y="4069080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Motion-aware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60520" y="4846320"/>
            <a:ext cx="7772400" cy="1554480"/>
          </a:xfrm>
          <a:prstGeom prst="roundRect">
            <a:avLst>
              <a:gd name="adj" fmla="val 5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91947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答辩人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80559" y="5212080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142955"/>
                </a:solidFill>
                <a:latin typeface="微软雅黑" panose="020B0503020204020204" charset="-122"/>
              </a:rPr>
              <a:t>倪 成 龙</a:t>
            </a:r>
            <a:endParaRPr sz="20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66759" y="491947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学  号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59" y="5212080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142955"/>
                </a:solidFill>
                <a:latin typeface="微软雅黑" panose="020B0503020204020204" charset="-122"/>
              </a:rPr>
              <a:t>202221176049</a:t>
            </a:r>
            <a:endParaRPr sz="20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80559" y="569671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指导教师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80559" y="5989320"/>
            <a:ext cx="3520440" cy="362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142955"/>
                </a:solidFill>
                <a:latin typeface="微软雅黑" panose="020B0503020204020204" charset="-122"/>
              </a:rPr>
              <a:t>刘 斌  </a:t>
            </a:r>
            <a:endParaRPr sz="20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66759" y="569671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时  间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66759" y="5989320"/>
            <a:ext cx="3520440" cy="362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142955"/>
                </a:solidFill>
                <a:latin typeface="微软雅黑" panose="020B0503020204020204" charset="-122"/>
              </a:rPr>
              <a:t>2026 年 0</a:t>
            </a:r>
            <a:r>
              <a:rPr lang="en-US" sz="2000" b="1">
                <a:solidFill>
                  <a:srgbClr val="142955"/>
                </a:solidFill>
                <a:latin typeface="微软雅黑" panose="020B0503020204020204" charset="-122"/>
              </a:rPr>
              <a:t>5</a:t>
            </a:r>
            <a:r>
              <a:rPr sz="2000" b="1">
                <a:solidFill>
                  <a:srgbClr val="142955"/>
                </a:solidFill>
                <a:latin typeface="微软雅黑" panose="020B0503020204020204" charset="-122"/>
              </a:rPr>
              <a:t> 月</a:t>
            </a:r>
            <a:endParaRPr sz="20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60520" y="644652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4A4A4A"/>
                </a:solidFill>
                <a:latin typeface="微软雅黑" panose="020B0503020204020204" charset="-122"/>
              </a:rPr>
              <a:t>— 南京 ·  NANJING —</a:t>
            </a:r>
            <a:endParaRPr sz="1200" b="1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0" y="1303655"/>
            <a:ext cx="3204210" cy="32042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ntent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92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2955"/>
                </a:solidFill>
                <a:latin typeface="微软雅黑" panose="020B0503020204020204" charset="-122"/>
              </a:rPr>
              <a:t>研究背景与意义</a:t>
            </a:r>
            <a:endParaRPr sz="2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基于神经辐射场和运动感知的图像去模糊技术研究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142955"/>
                </a:solidFill>
                <a:latin typeface="微软雅黑" panose="020B0503020204020204" charset="-122"/>
              </a:rPr>
              <a:t>02 / 10</a:t>
            </a:r>
            <a:endParaRPr sz="1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南京工业大学  ·  毕业设计（论文）答辩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答辩人：倪成龙   |   学号：202221176049   |   指导教师：刘斌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5577840" cy="2331720"/>
          </a:xfrm>
          <a:prstGeom prst="roundRect">
            <a:avLst>
              <a:gd name="adj" fmla="val 5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42955"/>
                </a:solidFill>
                <a:latin typeface="微软雅黑" panose="020B0503020204020204" charset="-122"/>
              </a:rPr>
              <a:t>研究问题  |  Problem</a:t>
            </a:r>
            <a:endParaRPr sz="16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5303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微软雅黑" panose="020B0503020204020204" charset="-122"/>
              </a:rPr>
              <a:t>·  手持/航拍/低光场景下，相机运动、离焦与物体运动导致模糊</a:t>
            </a:r>
            <a:endParaRPr sz="125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微软雅黑" panose="020B0503020204020204" charset="-122"/>
              </a:rPr>
              <a:t>·  多视角重建需在三维空间中显式建模图像退化过程</a:t>
            </a:r>
            <a:endParaRPr sz="125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微软雅黑" panose="020B0503020204020204" charset="-122"/>
              </a:rPr>
              <a:t>·  传统二维方法缺少多视角几何一致约束</a:t>
            </a:r>
            <a:endParaRPr sz="125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微软雅黑" panose="020B0503020204020204" charset="-122"/>
              </a:rPr>
              <a:t>·  纯神经网络去模糊难以保持空间结构与位姿细节</a:t>
            </a:r>
            <a:endParaRPr sz="125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1480" y="3749039"/>
            <a:ext cx="5577840" cy="2331720"/>
          </a:xfrm>
          <a:prstGeom prst="roundRect">
            <a:avLst>
              <a:gd name="adj" fmla="val 5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40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42955"/>
                </a:solidFill>
                <a:latin typeface="微软雅黑" panose="020B0503020204020204" charset="-122"/>
              </a:rPr>
              <a:t>研究意义  |  Significance</a:t>
            </a:r>
            <a:endParaRPr sz="16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4297680"/>
            <a:ext cx="5303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微软雅黑" panose="020B0503020204020204" charset="-122"/>
              </a:rPr>
              <a:t>·  理论：将 NeRF 与运动感知稀疏核统一在体渲染框架中</a:t>
            </a:r>
            <a:endParaRPr sz="125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微软雅黑" panose="020B0503020204020204" charset="-122"/>
              </a:rPr>
              <a:t>·  工程：打通配置 → 数据 → 训练 → 渲染 → 评价全流程</a:t>
            </a:r>
            <a:endParaRPr sz="125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微软雅黑" panose="020B0503020204020204" charset="-122"/>
              </a:rPr>
              <a:t>·  应用：影视后期、AR/VR、机器人感知等多模态场景</a:t>
            </a:r>
            <a:endParaRPr sz="125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微软雅黑" panose="020B0503020204020204" charset="-122"/>
              </a:rPr>
              <a:t>·  教学：可视化界面便于复现、对比与扩展</a:t>
            </a:r>
            <a:endParaRPr sz="125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63640" y="13258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42955"/>
                </a:solidFill>
                <a:latin typeface="微软雅黑" panose="020B0503020204020204" charset="-122"/>
              </a:rPr>
              <a:t>技术路线 · 演进  |  Roadmap</a:t>
            </a:r>
            <a:endParaRPr sz="16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pic>
        <p:nvPicPr>
          <p:cNvPr id="17" name="Picture 16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5852160" cy="120904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26480" y="35204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58444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多视角一致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0" y="3968496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A4A4A"/>
                </a:solidFill>
                <a:latin typeface="微软雅黑" panose="020B0503020204020204" charset="-122"/>
              </a:rPr>
              <a:t>3D 几何约束</a:t>
            </a:r>
            <a:endParaRPr sz="105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38160" y="35204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58444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物理可解释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0" y="3968496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A4A4A"/>
                </a:solidFill>
                <a:latin typeface="微软雅黑" panose="020B0503020204020204" charset="-122"/>
              </a:rPr>
              <a:t>稀疏核显式建模</a:t>
            </a:r>
            <a:endParaRPr sz="105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149840" y="35204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358444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端到端可微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0" y="3968496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A4A4A"/>
                </a:solidFill>
                <a:latin typeface="微软雅黑" panose="020B0503020204020204" charset="-122"/>
              </a:rPr>
              <a:t>PyTorch 联合优化</a:t>
            </a:r>
            <a:endParaRPr sz="105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26480" y="4617720"/>
            <a:ext cx="5852160" cy="1463040"/>
          </a:xfrm>
          <a:prstGeom prst="roundRect">
            <a:avLst>
              <a:gd name="adj" fmla="val 1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36592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本课题主张：NeRF 显式建模 + DSKnet 稀疏核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5080" y="5166360"/>
            <a:ext cx="55778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</a:rPr>
              <a:t>把模糊像素视为多条偏移光线的加权渲染之和；
在三维优化中显式表达退化过程，提升多视角一致性。</a:t>
            </a:r>
            <a:endParaRPr sz="11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ntent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92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2955"/>
                </a:solidFill>
                <a:latin typeface="微软雅黑" panose="020B0503020204020204" charset="-122"/>
              </a:rPr>
              <a:t>关键技术 ① 神经辐射场 NeRF</a:t>
            </a:r>
            <a:endParaRPr sz="2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基于神经辐射场和运动感知的图像去模糊技术研究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142955"/>
                </a:solidFill>
                <a:latin typeface="微软雅黑" panose="020B0503020204020204" charset="-122"/>
              </a:rPr>
              <a:t>03 / 10</a:t>
            </a:r>
            <a:endParaRPr sz="1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南京工业大学  ·  毕业设计（论文）答辩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答辩人：倪成龙   |   学号：202221176049   |   指导教师：刘斌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pic>
        <p:nvPicPr>
          <p:cNvPr id="10" name="Picture 9" descr="fig_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6583680" cy="356527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24344" y="1417320"/>
            <a:ext cx="4617720" cy="141732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 w="9525">
            <a:solidFill>
              <a:srgbClr val="2E7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50876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2955"/>
                </a:solidFill>
                <a:latin typeface="微软雅黑" panose="020B0503020204020204" charset="-122"/>
              </a:rPr>
              <a:t>① 5D 隐式表示</a:t>
            </a:r>
            <a:endParaRPr sz="15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79" y="1920240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A44"/>
                </a:solidFill>
                <a:latin typeface="微软雅黑" panose="020B0503020204020204" charset="-122"/>
              </a:rPr>
              <a:t>F(x,y,z,θ,φ)  →  (R,G,B,σ)
位置编码 PE 把低维坐标映射到高频空间</a:t>
            </a:r>
            <a:endParaRPr sz="115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24344" y="2990088"/>
            <a:ext cx="4617720" cy="141732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 w="9525">
            <a:solidFill>
              <a:srgbClr val="2C8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08152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2955"/>
                </a:solidFill>
                <a:latin typeface="微软雅黑" panose="020B0503020204020204" charset="-122"/>
              </a:rPr>
              <a:t>② 体渲染积分</a:t>
            </a:r>
            <a:endParaRPr sz="15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79" y="3493008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A44"/>
                </a:solidFill>
                <a:latin typeface="微软雅黑" panose="020B0503020204020204" charset="-122"/>
              </a:rPr>
              <a:t>C(r) = Σ T_i(1-e^{-σ_iδ_i}) c_i
沿光线累积密度加权颜色，可微可优化</a:t>
            </a:r>
            <a:endParaRPr sz="115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24344" y="4562856"/>
            <a:ext cx="4617720" cy="141732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 w="9525">
            <a:solidFill>
              <a:srgbClr val="E0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65429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2955"/>
                </a:solidFill>
                <a:latin typeface="微软雅黑" panose="020B0503020204020204" charset="-122"/>
              </a:rPr>
              <a:t>③ 粗 / 细分层采样</a:t>
            </a:r>
            <a:endParaRPr sz="15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8079" y="5065776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A44"/>
                </a:solidFill>
                <a:latin typeface="微软雅黑" panose="020B0503020204020204" charset="-122"/>
              </a:rPr>
              <a:t>coarse → importance sampling → fine
显著提升细节精度，控制计算开销</a:t>
            </a:r>
            <a:endParaRPr sz="115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ntent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92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2955"/>
                </a:solidFill>
                <a:latin typeface="微软雅黑" panose="020B0503020204020204" charset="-122"/>
              </a:rPr>
              <a:t>关键技术 ② 运动感知稀疏核 DSKnet</a:t>
            </a:r>
            <a:endParaRPr sz="2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基于神经辐射场和运动感知的图像去模糊技术研究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142955"/>
                </a:solidFill>
                <a:latin typeface="微软雅黑" panose="020B0503020204020204" charset="-122"/>
              </a:rPr>
              <a:t>04 / 10</a:t>
            </a:r>
            <a:endParaRPr sz="1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南京工业大学  ·  毕业设计（论文）答辩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答辩人：倪成龙   |   学号：202221176049   |   指导教师：刘斌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pic>
        <p:nvPicPr>
          <p:cNvPr id="10" name="Picture 9" descr="fig_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6766560" cy="366431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0" y="1417320"/>
            <a:ext cx="4663440" cy="1188720"/>
          </a:xfrm>
          <a:prstGeom prst="roundRect">
            <a:avLst>
              <a:gd name="adj" fmla="val 1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48132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核心建模  |  Modeling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52360" y="182880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B_blur (p) = Σ w_k · C_NeRF ( r + Δx_k ),   k = 1 … K
模糊像素 = K 条偏移光线的加权渲染之和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0" y="274320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8163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输入  |  Input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79" y="320040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图像坐标 + 像素特征 + 规范核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646920" y="274320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28163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输出  |  Output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29800" y="320040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偏移位移 Δr 与融合权重 w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0" y="425196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432511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稀疏  |  Sparse  K=5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470916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远少于卷积核，建模高效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46920" y="425196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432511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统一  |  Unified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29800" y="470916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抖动 / 离焦 / 物体运动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ntent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92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2955"/>
                </a:solidFill>
                <a:latin typeface="微软雅黑" panose="020B0503020204020204" charset="-122"/>
              </a:rPr>
              <a:t>系统设计 ① 模型联合优化架构</a:t>
            </a:r>
            <a:endParaRPr sz="2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基于神经辐射场和运动感知的图像去模糊技术研究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142955"/>
                </a:solidFill>
                <a:latin typeface="微软雅黑" panose="020B0503020204020204" charset="-122"/>
              </a:rPr>
              <a:t>05 / 10</a:t>
            </a:r>
            <a:endParaRPr sz="1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南京工业大学  ·  毕业设计（论文）答辩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答辩人：倪成龙   |   学号：202221176049   |   指导教师：刘斌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pic>
        <p:nvPicPr>
          <p:cNvPr id="10" name="Picture 9" descr="fig_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863840" cy="47092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95360" y="141732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15087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双重 MLP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96528" y="1874519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粗网络估几何 · 细网络补细节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95360" y="265176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7432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DSKnet 偏移核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96528" y="310896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与 NeRF 共同优化，可微反传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95360" y="388620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3977639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联合损失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96528" y="434340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L = ‖B − B_pred‖² + λ ‖C_gt − C_pred‖²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595360" y="512064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96528" y="5212079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LLFF 数据流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96528" y="557784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位姿归一化 + 球面化 + 分块渲染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ntent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92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2955"/>
                </a:solidFill>
                <a:latin typeface="微软雅黑" panose="020B0503020204020204" charset="-122"/>
              </a:rPr>
              <a:t>系统设计 ② 渲染管线 + 可视化界面</a:t>
            </a:r>
            <a:endParaRPr sz="2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基于神经辐射场和运动感知的图像去模糊技术研究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142955"/>
                </a:solidFill>
                <a:latin typeface="微软雅黑" panose="020B0503020204020204" charset="-122"/>
              </a:rPr>
              <a:t>06 / 10</a:t>
            </a:r>
            <a:endParaRPr sz="1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南京工业大学  ·  毕业设计（论文）答辩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答辩人：倪成龙   |   学号：202221176049   |   指导教师：刘斌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① 六阶段生成与渲染流程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pic>
        <p:nvPicPr>
          <p:cNvPr id="11" name="Picture 10" descr="fig_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7818120" cy="32224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4023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② Streamlit 可视化界面架构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pic>
        <p:nvPicPr>
          <p:cNvPr id="13" name="Picture 12" descr="fig_3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389120"/>
            <a:ext cx="3349396" cy="2011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12480" y="160020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1709928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一键复现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13648" y="2103120"/>
            <a:ext cx="3337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run_nerf.py 串联 6 个阶段
日志/权重/视频自动归档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412480" y="3227832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333756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交互可视化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13648" y="3730752"/>
            <a:ext cx="3337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Config Editor · Train Monitor
Render Viewer · Metric Compare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12480" y="4855464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496519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工程价值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13648" y="5358384"/>
            <a:ext cx="3337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A44"/>
                </a:solidFill>
                <a:latin typeface="微软雅黑" panose="020B0503020204020204" charset="-122"/>
              </a:rPr>
              <a:t>快速消融 · 多实验对比
降低复现门槛与答辩展示成本</a:t>
            </a:r>
            <a:endParaRPr sz="11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ntent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92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2955"/>
                </a:solidFill>
                <a:latin typeface="微软雅黑" panose="020B0503020204020204" charset="-122"/>
              </a:rPr>
              <a:t>实验设置 · 数据集与评价方案</a:t>
            </a:r>
            <a:endParaRPr sz="2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基于神经辐射场和运动感知的图像去模糊技术研究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142955"/>
                </a:solidFill>
                <a:latin typeface="微软雅黑" panose="020B0503020204020204" charset="-122"/>
              </a:rPr>
              <a:t>07 / 10</a:t>
            </a:r>
            <a:endParaRPr sz="1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南京工业大学  ·  毕业设计（论文）答辩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答辩人：倪成龙   |   学号：202221176049   |   指导教师：刘斌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2955"/>
                </a:solidFill>
                <a:latin typeface="微软雅黑" panose="020B0503020204020204" charset="-122"/>
              </a:rPr>
              <a:t>数据场景 · Deblur-NeRF 官方数据集（合成 + 真实）</a:t>
            </a:r>
            <a:endParaRPr sz="14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pic>
        <p:nvPicPr>
          <p:cNvPr id="11" name="Picture 10" descr="fig_datase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7818120" cy="45464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41732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15087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数据规模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13648" y="189280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A44"/>
                </a:solidFill>
                <a:latin typeface="微软雅黑" panose="020B0503020204020204" charset="-122"/>
              </a:rPr>
              <a:t>5 个合成场景 + 24 个真实场景  ·  hold = 7 张做保留测试</a:t>
            </a:r>
            <a:endParaRPr sz="105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80" y="2587752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67919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模糊类型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13648" y="30632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A44"/>
                </a:solidFill>
                <a:latin typeface="微软雅黑" panose="020B0503020204020204" charset="-122"/>
              </a:rPr>
              <a:t>相机运动 / 物体运动 / 离焦  三大典型退化</a:t>
            </a:r>
            <a:endParaRPr sz="105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12480" y="3758184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384962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评价指标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13648" y="423367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A44"/>
                </a:solidFill>
                <a:latin typeface="微软雅黑" panose="020B0503020204020204" charset="-122"/>
              </a:rPr>
              <a:t>PSNR ↑   SSIM ↑   LPIPS ↓  ·  metrics.py 实测</a:t>
            </a:r>
            <a:endParaRPr sz="105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412480" y="4928616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5020055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对照设置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13648" y="5404104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A44"/>
                </a:solidFill>
                <a:latin typeface="微软雅黑" panose="020B0503020204020204" charset="-122"/>
              </a:rPr>
              <a:t>baseline: kernel_type = none   ·   ours: DSK,  K = 5</a:t>
            </a:r>
            <a:endParaRPr sz="105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ntent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92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2955"/>
                </a:solidFill>
                <a:latin typeface="微软雅黑" panose="020B0503020204020204" charset="-122"/>
              </a:rPr>
              <a:t>实验结果 ① 视觉效果对比 · 多场景</a:t>
            </a:r>
            <a:endParaRPr sz="2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基于神经辐射场和运动感知的图像去模糊技术研究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142955"/>
                </a:solidFill>
                <a:latin typeface="微软雅黑" panose="020B0503020204020204" charset="-122"/>
              </a:rPr>
              <a:t>08 / 10</a:t>
            </a:r>
            <a:endParaRPr sz="1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南京工业大学  ·  毕业设计（论文）答辩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答辩人：倪成龙   |   学号：202221176049   |   指导教师：刘斌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188720"/>
            <a:ext cx="11475720" cy="502920"/>
          </a:xfrm>
          <a:prstGeom prst="roundRect">
            <a:avLst>
              <a:gd name="adj" fmla="val 2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1887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核心结果  |  Deblur-NeRF 在 4 个合成场景上恢复出与真值高度一致的几何与纹理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12" name="Picture 11" descr="fig_visua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783080"/>
            <a:ext cx="4937551" cy="45262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863840" y="1783080"/>
            <a:ext cx="4114800" cy="4526280"/>
          </a:xfrm>
          <a:prstGeom prst="roundRect">
            <a:avLst>
              <a:gd name="adj" fmla="val 5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874519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2955"/>
                </a:solidFill>
                <a:latin typeface="微软雅黑" panose="020B0503020204020204" charset="-122"/>
              </a:rPr>
              <a:t>观察 · Observations</a:t>
            </a:r>
            <a:endParaRPr sz="15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720" y="2331720"/>
            <a:ext cx="38404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A44"/>
                </a:solidFill>
                <a:latin typeface="微软雅黑" panose="020B0503020204020204" charset="-122"/>
              </a:rPr>
              <a:t>①  模糊输入：边缘扩散、文字与栏杆细节丢失</a:t>
            </a:r>
            <a:endParaRPr sz="12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A44"/>
                </a:solidFill>
                <a:latin typeface="微软雅黑" panose="020B0503020204020204" charset="-122"/>
              </a:rPr>
              <a:t>②  Vanilla NeRF：多视角平均后仍残留二次模糊</a:t>
            </a:r>
            <a:endParaRPr sz="12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A44"/>
                </a:solidFill>
                <a:latin typeface="微软雅黑" panose="020B0503020204020204" charset="-122"/>
              </a:rPr>
              <a:t>③  Deblur-NeRF：栏杆、文字、水波纹清晰恢复</a:t>
            </a:r>
            <a:endParaRPr sz="12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A44"/>
                </a:solidFill>
                <a:latin typeface="微软雅黑" panose="020B0503020204020204" charset="-122"/>
              </a:rPr>
              <a:t>④  在 cozyroom 等弱纹理场景同样稳定收敛</a:t>
            </a:r>
            <a:endParaRPr sz="12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A44"/>
                </a:solidFill>
                <a:latin typeface="微软雅黑" panose="020B0503020204020204" charset="-122"/>
              </a:rPr>
              <a:t>⑤  K=5 稀疏核显式刻画了相机轨迹方向</a:t>
            </a:r>
            <a:endParaRPr sz="12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ntent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92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2955"/>
                </a:solidFill>
                <a:latin typeface="微软雅黑" panose="020B0503020204020204" charset="-122"/>
              </a:rPr>
              <a:t>实验结果 ② 定量指标 + 消融 + 收敛</a:t>
            </a:r>
            <a:endParaRPr sz="2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基于神经辐射场和运动感知的图像去模糊技术研究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142955"/>
                </a:solidFill>
                <a:latin typeface="微软雅黑" panose="020B0503020204020204" charset="-122"/>
              </a:rPr>
              <a:t>09 / 10</a:t>
            </a:r>
            <a:endParaRPr sz="1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南京工业大学  ·  毕业设计（论文）答辩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答辩人：倪成龙   |   学号：202221176049   |   指导教师：刘斌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2834640" cy="100584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2801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PSNR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12801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2E7DD1"/>
                </a:solidFill>
                <a:latin typeface="微软雅黑" panose="020B0503020204020204" charset="-122"/>
              </a:rPr>
              <a:t>+3.8 dB</a:t>
            </a:r>
            <a:endParaRPr sz="2200" b="1">
              <a:solidFill>
                <a:srgbClr val="2E7DD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23.5 → 27.1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37560" y="1234440"/>
            <a:ext cx="2834640" cy="100584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2801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SSIM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43400" y="12801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2C864D"/>
                </a:solidFill>
                <a:latin typeface="微软雅黑" panose="020B0503020204020204" charset="-122"/>
              </a:rPr>
              <a:t>+0.12</a:t>
            </a:r>
            <a:endParaRPr sz="2200" b="1">
              <a:solidFill>
                <a:srgbClr val="2C864D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38728" y="173736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0.715 → 0.842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1234440"/>
            <a:ext cx="2834640" cy="100584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2801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LPIPS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69480" y="12801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E07A4D"/>
                </a:solidFill>
                <a:latin typeface="微软雅黑" panose="020B0503020204020204" charset="-122"/>
              </a:rPr>
              <a:t>-44%</a:t>
            </a:r>
            <a:endParaRPr sz="2200" b="1">
              <a:solidFill>
                <a:srgbClr val="E07A4D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64808" y="173736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0.351 → 0.196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89720" y="1234440"/>
            <a:ext cx="2834640" cy="100584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12801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42955"/>
                </a:solidFill>
                <a:latin typeface="微软雅黑" panose="020B0503020204020204" charset="-122"/>
              </a:rPr>
              <a:t>收敛速度</a:t>
            </a:r>
            <a:endParaRPr sz="1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95560" y="12801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D24545"/>
                </a:solidFill>
                <a:latin typeface="微软雅黑" panose="020B0503020204020204" charset="-122"/>
              </a:rPr>
              <a:t>×1.4</a:t>
            </a:r>
            <a:endParaRPr sz="2200" b="1">
              <a:solidFill>
                <a:srgbClr val="D2454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90888" y="173736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同 loss 阈值用时缩短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pic>
        <p:nvPicPr>
          <p:cNvPr id="26" name="Picture 25" descr="fig_metric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377440"/>
            <a:ext cx="8585367" cy="36118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11480" y="6035040"/>
            <a:ext cx="11475720" cy="365760"/>
          </a:xfrm>
          <a:prstGeom prst="roundRect">
            <a:avLst>
              <a:gd name="adj" fmla="val 3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03504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结论：DSKnet 在 5 个测试场景指标一致超越基线  ·  K=5 是精度/效率的甜点  ·  Deblur-NeRF 收敛更快、终态 loss 更低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ntent_v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92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2955"/>
                </a:solidFill>
                <a:latin typeface="微软雅黑" panose="020B0503020204020204" charset="-122"/>
              </a:rPr>
              <a:t>总结与展望</a:t>
            </a:r>
            <a:endParaRPr sz="22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A4A4A"/>
                </a:solidFill>
                <a:latin typeface="微软雅黑" panose="020B0503020204020204" charset="-122"/>
              </a:rPr>
              <a:t>基于神经辐射场和运动感知的图像去模糊技术研究</a:t>
            </a:r>
            <a:endParaRPr sz="11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142955"/>
                </a:solidFill>
                <a:latin typeface="微软雅黑" panose="020B0503020204020204" charset="-122"/>
              </a:rPr>
              <a:t>10 / 10</a:t>
            </a:r>
            <a:endParaRPr sz="18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南京工业大学  ·  毕业设计（论文）答辩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4A4A4A"/>
                </a:solidFill>
                <a:latin typeface="微软雅黑" panose="020B0503020204020204" charset="-122"/>
              </a:rPr>
              <a:t>答辩人：倪成龙   |   学号：202221176049   |   指导教师：刘斌</a:t>
            </a:r>
            <a:endParaRPr sz="1000" b="0">
              <a:solidFill>
                <a:srgbClr val="4A4A4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2955"/>
                </a:solidFill>
                <a:latin typeface="微软雅黑" panose="020B0503020204020204" charset="-122"/>
              </a:rPr>
              <a:t>主要工作  |  Summary</a:t>
            </a:r>
            <a:endParaRPr sz="15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1480" y="182880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385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① 理论梳理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331720"/>
            <a:ext cx="2514600" cy="1118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</a:rPr>
              <a:t>系统阐述 NeRF 体渲染、位置编码、
分层采样与运动感知建模衔接关系</a:t>
            </a:r>
            <a:endParaRPr sz="1400" b="1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46120" y="182880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9385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② 方法实现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29000" y="2331720"/>
            <a:ext cx="25146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</a:rPr>
              <a:t>完成 Embedder + 双层 NeRF + DSKnet
联合训练与可微反传</a:t>
            </a:r>
            <a:endParaRPr sz="1400" b="1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1480" y="3977639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87367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③ 系统工程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4480559"/>
            <a:ext cx="25146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</a:rPr>
              <a:t>打通数据→训练→渲染→评价→可视化
一站式实验闭环</a:t>
            </a:r>
            <a:endParaRPr sz="1400" b="1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46120" y="3977639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B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4087367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955"/>
                </a:solidFill>
                <a:latin typeface="微软雅黑" panose="020B0503020204020204" charset="-122"/>
              </a:rPr>
              <a:t>④ 实验验证</a:t>
            </a:r>
            <a:endParaRPr sz="13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29000" y="4480559"/>
            <a:ext cx="25146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</a:rPr>
              <a:t>对比 + 消融实验证实运动感知
稀疏核显著提升重建质量</a:t>
            </a:r>
            <a:endParaRPr sz="1400" b="1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2955"/>
                </a:solidFill>
                <a:latin typeface="微软雅黑" panose="020B0503020204020204" charset="-122"/>
              </a:rPr>
              <a:t>未来展望  |  Outlook</a:t>
            </a:r>
            <a:endParaRPr sz="1500" b="1">
              <a:solidFill>
                <a:srgbClr val="142955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21040" y="1938528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FFFF"/>
                </a:solidFill>
                <a:latin typeface="微软雅黑" panose="020B0503020204020204" charset="-122"/>
              </a:rPr>
              <a:t>稀疏 + 平滑 + 物理运动先验
提升核学习稳定性</a:t>
            </a:r>
            <a:endParaRPr sz="10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21040" y="3035808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FFFF"/>
                </a:solidFill>
                <a:latin typeface="微软雅黑" panose="020B0503020204020204" charset="-122"/>
              </a:rPr>
              <a:t>引入 depth_embed
刻画前景/焦平面/背景差异</a:t>
            </a:r>
            <a:endParaRPr sz="10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0" y="4133088"/>
            <a:ext cx="1828800" cy="235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效优化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047365" y="30753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5000"/>
              </a:lnSpc>
              <a:buNone/>
            </a:pPr>
            <a:endParaRPr lang="en-US" altLang="en-US" sz="1600" dirty="0">
              <a:solidFill>
                <a:schemeClr val="tx1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3182</Words>
  <Application>WPS 演示</Application>
  <PresentationFormat>On-screen Show (4:3)</PresentationFormat>
  <Paragraphs>338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Noto Sans CJK SC</vt:lpstr>
      <vt:lpstr>FFont-Family</vt:lpstr>
      <vt:lpstr>Noto Sans CJK SC</vt:lpstr>
      <vt:lpstr>Noto Sans CJK SC</vt:lpstr>
      <vt:lpstr>Adobe 明體 Std 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Nullptr</cp:lastModifiedBy>
  <cp:revision>4</cp:revision>
  <dcterms:created xsi:type="dcterms:W3CDTF">2013-01-27T09:14:00Z</dcterms:created>
  <dcterms:modified xsi:type="dcterms:W3CDTF">2026-05-24T13:49:01Z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8DF06E037A2F496F8EB2FD3F4C5BE0AE_12</vt:lpwstr>
  </property>
  <property fmtid="{D5CDD505-2E9C-101B-9397-08002B2CF9AE}" pid="3" name="KSOProductBuildVer">
    <vt:lpwstr>2052-12.1.0.26375</vt:lpwstr>
  </property>
</Properties>
</file>